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是XXX。今天我将向大家汇报我的研究生课程项目——基于LangChain-ReAct-Agent的智能冰箱智能体的设计与实现。这个项目旨在探索如何利用大型语言模型和智能体技术，赋予传统家电以更高级的智能交互能力。接下来，我将从项目背景、系统效果、技术实现等多个方面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围绕九个核心部分展开。首先，我会介绍项目的背景与目标。接着，通过系统效果展示直观感受智能体的能力。然后，我会深入讲解项目的实现细节、代码结构、系统架构以及核心模块的拆解。之后，会分析系统的数据流设计和前端交互界面。最后，总结项目的优势并探讨未来的优化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首先来看系统的基础对话能力。这部分主要依赖于大语言模型本身的能力。例如，当用户输入“你好”这样的问候语时，系统可以直接理解并给出友好的回应。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在这个过程中，Agent判断这是一个通用问题，无需调用外部工具，直接生成回答。这体现了系统的一个重要特性：在处理非专业问题时，它可以作为一个通用的AI助手。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系统的核心能力——基于ReAct框架的知识型智能体。当用户提出专业问题，如“冰箱坏了怎么修？”，系统会启动ReAct流程。首先，接收问题；然后，Agent思考需要调用工具去知识库中查找相关信息，这就是观察阶段；接着，Agent根据返回的信息进行分析和推理；最后，生成结构化的、有帮助的回答。这个“思考-行动-观察”的循环，正是ReAct框架的精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项目已开源，大家可以通过GitHub获取代码。运行项目非常简单，首先需要创建Python虚拟环境并安装依赖。然后，在配置文件中填写你的API密钥。最后，分别启动后端的FastAPI服务和前端的Streamlit应用即可。整个过程实现了前后端的分离，便于开发和部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这是我们系统的总体架构图。整个系统围绕中间的Agent核心构建。用户通过前端界面与系统交互，请求被发送给Agent。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Agent作为决策核心，根据问题判断是否需要调用工具。工具层负责与外部世界交互，比如查询向量数据库。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向量数据库用于高效检索我们预先准备的知识库，而知识库的数据来源于我们整理的原始数据。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这个架构实现了模块化和解耦，具有良好的扩展性。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对系统进行模块拆解。整个系统主要由四个核心模块构成。Agent模块是大脑，负责思考和决策。Tools模块是手和脚，负责执行具体的任务。数据模块是我们的知识源泉，存储着所有原始信息。而向量存储模块则像一个高效的图书管理员，能快速从海量知识中找到我们需要的信息。这四个模块各司其职，协同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这张图展示了系统的核心数据流。用户的输入通过前端到达Agent，Agent首先进行解析和思考，判断是否需要调用工具。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如果需要（例如知识不足时），就会触发下方的“向量检索”模块，从知识库中获取关键信息。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随后，Agent结合检索到的外部信息和自身的大模型推理能力，生成最终的精准回答，并通过前端界面返回给用户。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整个过程完美体现了ReAct智能体的核心循环：先“思考”是否需要行动，再“行动”调用工具，最后“观察”工具返回的结果并生成回答。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在前端设计方面，我们选择了Streamlit框架。它的优势在于可以用纯Python代码快速搭建出漂亮的交互式网页，非常适合原型开发和项目展示。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我们的前端主要负责与用户的交互，并将用户请求通过API发送给后端的Agent，然后将Agent返回的结果展示给用户。这种前后端分离的模式，使得开发更加高效和灵活。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本项目主要有五大优势。首先，基于ReAct框架，使智能体具备了强大的推理能力。其次，工具调用机制具有良好的扩展性。第三，通过RAG技术，实现了知识增强，提升了回答的专业性。第四，前后端解耦的架构保证了系统的灵活性和可维护性。最后，整个智能体的核心逻辑具有很强的可迁移性，可以应用到其他领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未来，我们还有很多工作可以做。首先是增强多模态能力，让智能体能够理解图像信息。其次是接入真实的IoT设备，实现真正的智能控制。此外，我们还需要不断优化推理效率、扩充知识库，并提升对话的鲁棒性，以应对更复杂的场景。这些都是我们下一步努力的方向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notesSlides/notesSlide5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notesSlides/notesSlide6.xml" Type="http://schemas.openxmlformats.org/officeDocument/2006/relationships/notesSlid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47.png" Type="http://schemas.openxmlformats.org/officeDocument/2006/relationships/image"/><Relationship Id="rId17" Target="../media/image48.svg" Type="http://schemas.openxmlformats.org/officeDocument/2006/relationships/image"/><Relationship Id="rId18" Target="../notesSlides/notesSlide8.xml" Type="http://schemas.openxmlformats.org/officeDocument/2006/relationships/notesSlid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notesSlides/notesSlide9.xml" Type="http://schemas.openxmlformats.org/officeDocument/2006/relationships/notesSlid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svg" Type="http://schemas.openxmlformats.org/officeDocument/2006/relationships/image"/><Relationship Id="rId12" Target="../notesSlides/notesSlide11.xml" Type="http://schemas.openxmlformats.org/officeDocument/2006/relationships/notesSlide"/><Relationship Id="rId13" Target="../media/image75.png" Type="http://schemas.openxmlformats.org/officeDocument/2006/relationships/image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2286000" cy="6858000"/>
          </a:xfrm>
          <a:prstGeom prst="roundRect">
            <a:avLst>
              <a:gd name="adj" fmla="val 5555"/>
            </a:avLst>
          </a:prstGeom>
          <a:solidFill>
            <a:srgbClr val="F0F7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254000" y="1016000"/>
            <a:ext cx="2794000" cy="2794000"/>
          </a:xfrm>
          <a:prstGeom prst="ellipse">
            <a:avLst/>
          </a:prstGeom>
          <a:solidFill>
            <a:srgbClr val="4A90E2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4318000"/>
            <a:ext cx="1143000" cy="1778000"/>
          </a:xfrm>
          <a:prstGeom prst="roundRect">
            <a:avLst>
              <a:gd name="adj" fmla="val 16666"/>
            </a:avLst>
          </a:prstGeom>
          <a:solidFill>
            <a:srgbClr val="4A90E2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667000" y="1778000"/>
            <a:ext cx="889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基于LangChain-ReAct-Agent的</a:t>
            </a: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智能冰箱智能体的设计与实现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667000" y="3683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研究生课程项目汇报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0" y="45720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0" y="5080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汇报人：XXX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667000" y="5588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556000" cy="4826000"/>
          </a:xfrm>
          <a:prstGeom prst="roundRect">
            <a:avLst>
              <a:gd name="adj" fmla="val 5714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190500" algn="tl" rotWithShape="false">
              <a:srgbClr val="4A90E2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4130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01-09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937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OVERVIEW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699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PROJECT SUMMARY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1651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EBF3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762500" y="1841500"/>
            <a:ext cx="508000" cy="508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762500" y="19431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1000" y="1841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667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EBF3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62500" y="2857500"/>
            <a:ext cx="508000" cy="508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62500" y="29591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461000" y="2857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系统效果展示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3683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EBF3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762500" y="3873500"/>
            <a:ext cx="508000" cy="508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62500" y="39751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461000" y="3873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项目实现与代码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72000" y="4699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EBF3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762500" y="4889500"/>
            <a:ext cx="508000" cy="508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762500" y="49911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461000" y="4889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系统架构设计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1651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EBF3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18500" y="1841500"/>
            <a:ext cx="508000" cy="508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18500" y="19431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017000" y="1841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模块拆解分析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28000" y="2667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EBF3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18500" y="2857500"/>
            <a:ext cx="508000" cy="508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318500" y="29591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017000" y="2857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数据流设计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128000" y="3683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EBF3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318500" y="3873500"/>
            <a:ext cx="508000" cy="508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318500" y="39751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017000" y="3873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前端与交互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128000" y="4699000"/>
            <a:ext cx="3302000" cy="889000"/>
          </a:xfrm>
          <a:prstGeom prst="roundRect">
            <a:avLst>
              <a:gd name="adj" fmla="val 14285"/>
            </a:avLst>
          </a:prstGeom>
          <a:solidFill>
            <a:srgbClr val="EBF3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318500" y="4889500"/>
            <a:ext cx="508000" cy="508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318500" y="4991100"/>
            <a:ext cx="50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017000" y="4889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项目优势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4572000" y="5715000"/>
            <a:ext cx="6858000" cy="635000"/>
          </a:xfrm>
          <a:prstGeom prst="roundRect">
            <a:avLst>
              <a:gd name="adj" fmla="val 20000"/>
            </a:avLst>
          </a:prstGeom>
          <a:solidFill>
            <a:srgbClr val="EBF3F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4762500" y="5842000"/>
            <a:ext cx="381000" cy="381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4762500" y="5892800"/>
            <a:ext cx="38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5334000" y="58420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优化方向与未来展望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基础对话能力（LLM能力）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4826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254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4826000" cy="635000"/>
          </a:xfrm>
          <a:prstGeom prst="roundRect">
            <a:avLst>
              <a:gd name="adj" fmla="val 32000"/>
            </a:avLst>
          </a:prstGeom>
          <a:solidFill>
            <a:srgbClr val="F0F2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764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对话交互示例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540000" y="2413000"/>
            <a:ext cx="2032000" cy="889000"/>
          </a:xfrm>
          <a:prstGeom prst="roundRect">
            <a:avLst>
              <a:gd name="adj" fmla="val 17142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667000" y="2603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你好呀，很高兴认识你！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683000"/>
            <a:ext cx="3556000" cy="1143000"/>
          </a:xfrm>
          <a:prstGeom prst="roundRect">
            <a:avLst>
              <a:gd name="adj" fmla="val 13333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3873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你好！有什么我可以帮你的吗？无论是工作咨询还是生活闲聊，我都在。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5207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🤖 已激活通用对话模式 · 无需工具调用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0" y="1524000"/>
            <a:ext cx="5334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254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智能意图判定逻辑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2413000"/>
            <a:ext cx="4572000" cy="1143000"/>
          </a:xfrm>
          <a:prstGeom prst="roundRect">
            <a:avLst>
              <a:gd name="adj" fmla="val 8888"/>
            </a:avLst>
          </a:prstGeom>
          <a:solidFill>
            <a:srgbClr val="F7F9FC">
              <a:alpha val="100000"/>
            </a:srgbClr>
          </a:solidFill>
          <a:ln w="12700" cmpd="sng" cap="flat">
            <a:solidFill>
              <a:srgbClr val="E6E8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6035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系统通过LLM的基础语义理解能力，快速识别用户输入的“问候语”特征。由于缺乏明确的任务关键词，系统判定其为</a:t>
            </a:r>
            <a:r>
              <a:rPr lang="en-US" b="tru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通用社交类请求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810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⚡ 核心运行机制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318000"/>
            <a:ext cx="4572000" cy="1397000"/>
          </a:xfrm>
          <a:prstGeom prst="roundRect">
            <a:avLst>
              <a:gd name="adj" fmla="val 7272"/>
            </a:avLst>
          </a:prstGeom>
          <a:solidFill>
            <a:srgbClr val="E8F1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477000" y="45085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112000" y="4508500"/>
            <a:ext cx="342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在非专业、非任务导向的闲聊场景下，系统自动</a:t>
            </a:r>
            <a:r>
              <a:rPr lang="en-US" b="true" i="false" strike="noStrike" u="none" sz="12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退化至通用AI助手模式</a:t>
            </a:r>
            <a:r>
              <a:rPr lang="en-US" b="false" i="false" strike="noStrike" u="none" sz="12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，直接利用大模型的生成能力进行自然响应，避免了无效的工具调用开销。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知识型智能体（ReAct工作流程）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651000"/>
            <a:ext cx="2540000" cy="4445000"/>
          </a:xfrm>
          <a:prstGeom prst="roundRect">
            <a:avLst>
              <a:gd name="adj" fmla="val 6000"/>
            </a:avLst>
          </a:prstGeom>
          <a:solidFill>
            <a:srgbClr val="EBF3FD">
              <a:alpha val="100000"/>
            </a:srgbClr>
          </a:solidFill>
          <a:ln w="25400" cmpd="sng" cap="flat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600200" y="1905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 提问 (Question)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33020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5560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用户提出具体问题：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“冰箱坏了怎么修？”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29000" y="1651000"/>
            <a:ext cx="2540000" cy="4445000"/>
          </a:xfrm>
          <a:prstGeom prst="roundRect">
            <a:avLst>
              <a:gd name="adj" fmla="val 6000"/>
            </a:avLst>
          </a:prstGeom>
          <a:solidFill>
            <a:srgbClr val="EBF3FD">
              <a:alpha val="100000"/>
            </a:srgbClr>
          </a:solidFill>
          <a:ln w="25400" cmpd="sng" cap="flat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94200" y="1905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556000" y="2667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 观察 (Observation)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19500" y="3302000"/>
            <a:ext cx="215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746500" y="3556000"/>
            <a:ext cx="190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检索知识库，获取相关信息：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冰箱常见故障包含不制冷、噪音大、结霜严重、底部漏水等典型情况。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651000"/>
            <a:ext cx="2540000" cy="4445000"/>
          </a:xfrm>
          <a:prstGeom prst="roundRect">
            <a:avLst>
              <a:gd name="adj" fmla="val 6000"/>
            </a:avLst>
          </a:prstGeom>
          <a:solidFill>
            <a:srgbClr val="EBF3FD">
              <a:alpha val="100000"/>
            </a:srgbClr>
          </a:solidFill>
          <a:ln w="25400" cmpd="sng" cap="flat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88200" y="1905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350000" y="2667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03 思考 (Thought)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3302000"/>
            <a:ext cx="2159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40500" y="3556000"/>
            <a:ext cx="190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基于获取的观察信息，进行逻辑推理与分析：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将用户问题与故障特征进行匹配，制定针对性的排查方案。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017000" y="1651000"/>
            <a:ext cx="2540000" cy="4445000"/>
          </a:xfrm>
          <a:prstGeom prst="roundRect">
            <a:avLst>
              <a:gd name="adj" fmla="val 6000"/>
            </a:avLst>
          </a:prstGeom>
          <a:solidFill>
            <a:srgbClr val="EBF3FD">
              <a:alpha val="100000"/>
            </a:srgbClr>
          </a:solidFill>
          <a:ln w="25400" cmpd="sng" cap="flat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982200" y="19050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144000" y="2667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04 最终回答 (Answer)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07500" y="3302000"/>
            <a:ext cx="2159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34500" y="3492500"/>
            <a:ext cx="190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不制冷：查电源/压缩机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噪音大：检查摆放是否平稳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结霜：检查门封条是否密封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漏水：清理排水孔是否堵塞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项目开源与运行方式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2095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032000" y="1968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代码仓库获取 (GitHub)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032000" y="2413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Repo: git clone &lt;项目开源仓库URL&gt;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270000" y="3619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032000" y="3365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开发环境依赖安装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032000" y="3810000"/>
            <a:ext cx="3429000" cy="635000"/>
          </a:xfrm>
          <a:prstGeom prst="roundRect">
            <a:avLst>
              <a:gd name="adj" fmla="val 12000"/>
            </a:avLst>
          </a:prstGeom>
          <a:solidFill>
            <a:srgbClr val="E5ED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159000" y="3873500"/>
            <a:ext cx="317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conda create -n agent python=3.10</a:t>
            </a: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-r requirements.txt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826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70000" y="51435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2032000" y="5016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核心密钥配置 (API Key)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032000" y="5461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需配置: DashScope 或 高德地图 API Key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1778000"/>
            <a:ext cx="4699000" cy="1905000"/>
          </a:xfrm>
          <a:prstGeom prst="roundRect">
            <a:avLst>
              <a:gd name="adj" fmla="val 5333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67500" y="19685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0" y="2032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128000" y="2057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后端服务启动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0" y="26035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FastAPI 框架启动接口服务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0" y="2984500"/>
            <a:ext cx="3302000" cy="457200"/>
          </a:xfrm>
          <a:prstGeom prst="roundRect">
            <a:avLst>
              <a:gd name="adj" fmla="val 16666"/>
            </a:avLst>
          </a:prstGeom>
          <a:solidFill>
            <a:srgbClr val="E5ED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747000" y="3073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uvicorn backend.main:app --reload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3937000"/>
            <a:ext cx="4699000" cy="1905000"/>
          </a:xfrm>
          <a:prstGeom prst="roundRect">
            <a:avLst>
              <a:gd name="adj" fmla="val 5333"/>
            </a:avLst>
          </a:prstGeom>
          <a:solidFill>
            <a:srgbClr val="F0F5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67500" y="41275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620000" y="4191000"/>
            <a:ext cx="406400" cy="4064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8128000" y="4216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前端应用启动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0" y="47625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Streamlit 框架启动可视化界面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0" y="5143500"/>
            <a:ext cx="3302000" cy="457200"/>
          </a:xfrm>
          <a:prstGeom prst="roundRect">
            <a:avLst>
              <a:gd name="adj" fmla="val 16666"/>
            </a:avLst>
          </a:prstGeom>
          <a:solidFill>
            <a:srgbClr val="E5ED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747000" y="5232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streamlit run app.py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0" y="2794000"/>
            <a:ext cx="3048000" cy="1651000"/>
          </a:xfrm>
          <a:prstGeom prst="roundRect">
            <a:avLst>
              <a:gd name="adj" fmla="val 11538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4A90E2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826000" y="3048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5588000" y="2984500"/>
            <a:ext cx="190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(ReAct)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88000" y="35560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BF5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系统智能决策核心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1397000"/>
            <a:ext cx="3048000" cy="1143000"/>
          </a:xfrm>
          <a:prstGeom prst="roundRect">
            <a:avLst>
              <a:gd name="adj" fmla="val 11111"/>
            </a:avLst>
          </a:prstGeom>
          <a:solidFill>
            <a:srgbClr val="F0F7FF">
              <a:alpha val="100000"/>
            </a:srgbClr>
          </a:solidFill>
          <a:ln w="12700" cmpd="sng" cap="flat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62500" y="1587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461000" y="15875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用户交互 · 前端层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1000" y="1968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Streamlit 构建可视化交互界面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4699000"/>
            <a:ext cx="3048000" cy="1143000"/>
          </a:xfrm>
          <a:prstGeom prst="roundRect">
            <a:avLst>
              <a:gd name="adj" fmla="val 11111"/>
            </a:avLst>
          </a:prstGeom>
          <a:solidFill>
            <a:srgbClr val="F0F7FF">
              <a:alpha val="100000"/>
            </a:srgbClr>
          </a:solidFill>
          <a:ln w="12700" cmpd="sng" cap="flat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762500" y="4889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461000" y="48895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知识检索 · 向量库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461000" y="5270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Vector Store 知识库高效召回引擎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397000" y="2794000"/>
            <a:ext cx="2667000" cy="1651000"/>
          </a:xfrm>
          <a:prstGeom prst="roundRect">
            <a:avLst>
              <a:gd name="adj" fmla="val 7692"/>
            </a:avLst>
          </a:prstGeom>
          <a:solidFill>
            <a:srgbClr val="F0F7FF">
              <a:alpha val="100000"/>
            </a:srgbClr>
          </a:solidFill>
          <a:ln w="12700" cmpd="sng" cap="flat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587500" y="3048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2413000" y="3048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知识来源 · 数据库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413000" y="35560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结构化数据与非结构化文档的持久化存储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874000" y="2794000"/>
            <a:ext cx="2667000" cy="1651000"/>
          </a:xfrm>
          <a:prstGeom prst="roundRect">
            <a:avLst>
              <a:gd name="adj" fmla="val 7692"/>
            </a:avLst>
          </a:prstGeom>
          <a:solidFill>
            <a:srgbClr val="F0F7FF">
              <a:alpha val="100000"/>
            </a:srgbClr>
          </a:solidFill>
          <a:ln w="12700" cmpd="sng" cap="flat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064500" y="3048000"/>
            <a:ext cx="609600" cy="609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890000" y="30480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外部能力 · 工具层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90000" y="35560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API 调用 / 函数执行 / 外部环境交互接口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5228255" flipH="false" flipV="false">
            <a:off x="5969000" y="2660809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90E2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name="Connector 24" id="24"/>
          <p:cNvCxnSpPr/>
          <p:nvPr/>
        </p:nvCxnSpPr>
        <p:spPr>
          <a:xfrm rot="5228255" flipH="false" flipV="false">
            <a:off x="5969000" y="4565809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90E2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name="Connector 25" id="25"/>
          <p:cNvCxnSpPr/>
          <p:nvPr/>
        </p:nvCxnSpPr>
        <p:spPr>
          <a:xfrm rot="-85925" flipH="false" flipV="false">
            <a:off x="4064079" y="36131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90E2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name="Connector 26" id="26"/>
          <p:cNvCxnSpPr/>
          <p:nvPr/>
        </p:nvCxnSpPr>
        <p:spPr>
          <a:xfrm rot="-171744" flipH="false" flipV="false">
            <a:off x="7620159" y="36131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90E2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系统模块拆解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" cy="1016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2286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286000" y="1968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Agent 推理决策模块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2476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系统的“大脑”，负责深度理解用户问题、动态规划执行路径，并综合所有信息生成最终的精准回答。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032000"/>
            <a:ext cx="1016000" cy="1016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2286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747000" y="1968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Tools 外部工具模块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747000" y="2476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系统的“手脚”，封装外部异构能力接口。集成知识检索、API调用、计算器等工具，大幅扩展系统边界。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572000"/>
            <a:ext cx="1016000" cy="1016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70000" y="4826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2286000" y="4508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Data 原始知识库模块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286000" y="5016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系统的“知识库”，存储所有非结构化原始资料。包括产品手册、技术白皮书、历史维修案例等核心文档。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06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572000"/>
            <a:ext cx="1016000" cy="1016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731000" y="48260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747000" y="4508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Vector 向量检索模块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747000" y="5016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系统的“检索引擎”，将知识库向量化并构建索引。提供毫秒级的语义相似度检索能力，实现精准匹配。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数据流设计（从输入到输出）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524000" cy="2286000"/>
          </a:xfrm>
          <a:prstGeom prst="roundRect">
            <a:avLst>
              <a:gd name="adj" fmla="val 10000"/>
            </a:avLst>
          </a:prstGeom>
          <a:solidFill>
            <a:srgbClr val="4A90E2">
              <a:alpha val="8000"/>
            </a:srgbClr>
          </a:solidFill>
          <a:ln w="12700" cmpd="sng" cap="flat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1905000"/>
            <a:ext cx="762000" cy="762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794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302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自然语言提问</a:t>
            </a: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或指令下达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413000" y="2540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844800" y="1651000"/>
            <a:ext cx="1524000" cy="2286000"/>
          </a:xfrm>
          <a:prstGeom prst="roundRect">
            <a:avLst>
              <a:gd name="adj" fmla="val 10000"/>
            </a:avLst>
          </a:prstGeom>
          <a:solidFill>
            <a:srgbClr val="4A90E2">
              <a:alpha val="8000"/>
            </a:srgbClr>
          </a:solidFill>
          <a:ln w="12700" cmpd="sng" cap="flat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225800" y="1905000"/>
            <a:ext cx="762000" cy="762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971800" y="2794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71800" y="3302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Web/APP 界面</a:t>
            </a: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请求转发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95800" y="2540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27600" y="1651000"/>
            <a:ext cx="1524000" cy="2286000"/>
          </a:xfrm>
          <a:prstGeom prst="roundRect">
            <a:avLst>
              <a:gd name="adj" fmla="val 10000"/>
            </a:avLst>
          </a:prstGeom>
          <a:solidFill>
            <a:srgbClr val="4A90E2">
              <a:alpha val="8000"/>
            </a:srgbClr>
          </a:solidFill>
          <a:ln w="12700" cmpd="sng" cap="flat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308600" y="1905000"/>
            <a:ext cx="762000" cy="762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054600" y="2794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 解析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54600" y="3302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意图识别与理解</a:t>
            </a: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制定执行计划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78600" y="2540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10400" y="1651000"/>
            <a:ext cx="1524000" cy="2286000"/>
          </a:xfrm>
          <a:prstGeom prst="roundRect">
            <a:avLst>
              <a:gd name="adj" fmla="val 10000"/>
            </a:avLst>
          </a:prstGeom>
          <a:solidFill>
            <a:srgbClr val="FFB432">
              <a:alpha val="10000"/>
            </a:srgbClr>
          </a:solidFill>
          <a:ln w="12700" cmpd="sng" cap="flat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391400" y="1905000"/>
            <a:ext cx="762000" cy="762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37400" y="2794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是否调用工具？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37400" y="3302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知识是否足够？</a:t>
            </a: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需不需要检索？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661400" y="2540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093200" y="1651000"/>
            <a:ext cx="1524000" cy="2286000"/>
          </a:xfrm>
          <a:prstGeom prst="roundRect">
            <a:avLst>
              <a:gd name="adj" fmla="val 10000"/>
            </a:avLst>
          </a:prstGeom>
          <a:solidFill>
            <a:srgbClr val="4A90E2">
              <a:alpha val="8000"/>
            </a:srgbClr>
          </a:solidFill>
          <a:ln w="12700" cmpd="sng" cap="flat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474200" y="1905000"/>
            <a:ext cx="762000" cy="762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220200" y="2794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生成回答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220200" y="3302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整合信息推理</a:t>
            </a: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LLM 生成结果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927600" y="4191000"/>
            <a:ext cx="1524000" cy="1270000"/>
          </a:xfrm>
          <a:prstGeom prst="roundRect">
            <a:avLst>
              <a:gd name="adj" fmla="val 1200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5080000" y="4318000"/>
            <a:ext cx="508000" cy="508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5715000" y="4318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向量检索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知识库召回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010400" y="4191000"/>
            <a:ext cx="3606800" cy="1270000"/>
          </a:xfrm>
          <a:prstGeom prst="roundRect">
            <a:avLst>
              <a:gd name="adj" fmla="val 12000"/>
            </a:avLst>
          </a:prstGeom>
          <a:solidFill>
            <a:srgbClr val="6366F1">
              <a:alpha val="8000"/>
            </a:srgbClr>
          </a:solidFill>
          <a:ln w="12700" cmpd="sng" cap="flat">
            <a:solidFill>
              <a:srgbClr val="6366F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7239000" y="4445000"/>
            <a:ext cx="635000" cy="6350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128000" y="43815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返回用户 (闭环)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将最终结果通过前端展示给用户，完成交互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715000"/>
            <a:ext cx="10668000" cy="635000"/>
          </a:xfrm>
          <a:prstGeom prst="roundRect">
            <a:avLst>
              <a:gd name="adj" fmla="val 4000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62000" y="571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核心机制：ReAct 智能体的 “思考 (Reason) → 行动 (Act) → 观察 (Observe)” 动态循环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前端设计（Streamlit）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4953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4A90E2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879600"/>
            <a:ext cx="609600" cy="609600"/>
          </a:xfrm>
          <a:prstGeom prst="ellipse">
            <a:avLst/>
          </a:prstGeom>
          <a:solidFill>
            <a:srgbClr val="EBF3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684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8034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快速搭建 UI 界面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05000" y="21844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仅需 Python 脚本即可生成美观的交互式网页，无需前端框架基础。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921000"/>
            <a:ext cx="4953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4A90E2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149600"/>
            <a:ext cx="609600" cy="609600"/>
          </a:xfrm>
          <a:prstGeom prst="ellipse">
            <a:avLst/>
          </a:prstGeom>
          <a:solidFill>
            <a:srgbClr val="EBF3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68400" y="3302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905000" y="30734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原生支持会话交互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05000" y="34544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内置会话式组件，可快速实现多轮对话、历史记录回溯等功能。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4953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4A90E2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419600"/>
            <a:ext cx="609600" cy="609600"/>
          </a:xfrm>
          <a:prstGeom prst="ellipse">
            <a:avLst/>
          </a:prstGeom>
          <a:solidFill>
            <a:srgbClr val="EBF3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168400" y="4572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905000" y="43434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无缝对接后端服务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905000" y="47244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HTTP 请求轻松连接 FastAPI 后端，实现前后端逻辑分离。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461000"/>
            <a:ext cx="4953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4A90E2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664200"/>
            <a:ext cx="609600" cy="609600"/>
          </a:xfrm>
          <a:prstGeom prst="ellipse">
            <a:avLst/>
          </a:prstGeom>
          <a:solidFill>
            <a:srgbClr val="EBF3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168400" y="58166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905000" y="56134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极致轻量的开发体验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905000" y="5969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框架无额外负担，开发者可专注于核心业务逻辑的实现。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096000" y="1651000"/>
            <a:ext cx="5080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0" y="1841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数据流转架构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2413000"/>
            <a:ext cx="4318000" cy="812800"/>
          </a:xfrm>
          <a:prstGeom prst="roundRect">
            <a:avLst>
              <a:gd name="adj" fmla="val 1875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2565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用户交互层 (Streamlit)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432800" y="3302000"/>
            <a:ext cx="406400" cy="4064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477000" y="3810000"/>
            <a:ext cx="4318000" cy="812800"/>
          </a:xfrm>
          <a:prstGeom prst="roundRect">
            <a:avLst>
              <a:gd name="adj" fmla="val 18750"/>
            </a:avLst>
          </a:prstGeom>
          <a:solidFill>
            <a:srgbClr val="EBF3FC">
              <a:alpha val="10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3962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接口服务层 (FastAPI)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432800" y="4699000"/>
            <a:ext cx="406400" cy="4064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477000" y="5207000"/>
            <a:ext cx="4318000" cy="812800"/>
          </a:xfrm>
          <a:prstGeom prst="roundRect">
            <a:avLst>
              <a:gd name="adj" fmla="val 18750"/>
            </a:avLst>
          </a:prstGeom>
          <a:solidFill>
            <a:srgbClr val="EBF3FC">
              <a:alpha val="100000"/>
            </a:srgbClr>
          </a:solidFill>
          <a:ln w="12700" cmpd="sng" cap="flat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77000" y="5359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核心逻辑层 (Agent) → 结果返回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项目优势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5F9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06500" y="2222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159000" y="2032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ReAct 推理能力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159000" y="2540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能够理解复杂问题，自主规划并执行解决步骤。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5F9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99000" y="20320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889500" y="22225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842000" y="2032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可扩展工具调用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42000" y="2540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轻松集成联网搜索、IoT设备控制等各类新工具。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5F9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0320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72500" y="22225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525000" y="2032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知识增强 (RAG)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0" y="2540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结合大模型与专业知识库，显著提升回答的准确性。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5F9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4450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206500" y="46355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2159000" y="4445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前后端解耦架构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159000" y="4953000"/>
            <a:ext cx="342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系统架构层次清晰，前端展示与后端逻辑独立，便于团队并行开发与灵活部署。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5F9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44450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67500" y="4635500"/>
            <a:ext cx="508000" cy="508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620000" y="4445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核心逻辑可迁移性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0" y="4953000"/>
            <a:ext cx="342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设计解耦，核心Agent逻辑不依赖特定环境，可快速适配并迁移到其他智能体应用场景。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未来优化方向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76200" cy="2032000"/>
          </a:xfrm>
          <a:prstGeom prst="roundRect">
            <a:avLst>
              <a:gd name="adj" fmla="val 20000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92200" y="1968500"/>
            <a:ext cx="609600" cy="6096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19200" y="2095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1968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增强多模态能力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92200" y="2794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接入图像识别技术，让智能冰箱能够“看”懂内部的食物种类与状态。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76200" cy="2032000"/>
          </a:xfrm>
          <a:prstGeom prst="roundRect">
            <a:avLst>
              <a:gd name="adj" fmla="val 20000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775200" y="1968500"/>
            <a:ext cx="609600" cy="6096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02200" y="2095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588000" y="1968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接入真实IoT设备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775200" y="2794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从模拟环境走向现实应用，实现对真实冰箱硬件的远程状态监控与控制。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1651000"/>
            <a:ext cx="76200" cy="2032000"/>
          </a:xfrm>
          <a:prstGeom prst="roundRect">
            <a:avLst>
              <a:gd name="adj" fmla="val 20000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458200" y="1968500"/>
            <a:ext cx="609600" cy="6096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85200" y="2095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271000" y="1968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优化推理效率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458200" y="2794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探索更轻量高效的Agent框架，大幅减少系统响应时间，提升交互流畅度。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064000"/>
            <a:ext cx="76200" cy="1905000"/>
          </a:xfrm>
          <a:prstGeom prst="roundRect">
            <a:avLst>
              <a:gd name="adj" fmla="val 20000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92200" y="4381500"/>
            <a:ext cx="711200" cy="7112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295400" y="45847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2108200" y="4381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构建更大知识库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108200" y="4953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整合海量不同品牌、型号的冰箱数据与使用手册，让智能体具备更专业的知识储备，回答更精准。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23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23000" y="4064000"/>
            <a:ext cx="76200" cy="1905000"/>
          </a:xfrm>
          <a:prstGeom prst="roundRect">
            <a:avLst>
              <a:gd name="adj" fmla="val 200000"/>
            </a:avLst>
          </a:prstGeom>
          <a:solidFill>
            <a:srgbClr val="4A90E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53200" y="4381500"/>
            <a:ext cx="711200" cy="7112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756400" y="45847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569200" y="4381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提升对话鲁棒性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569200" y="4953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优化对话管理策略与上下文记忆能力，从容处理用户更复杂、更长的多轮对话，减少答非所问的情况。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